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06"/>
  </p:normalViewPr>
  <p:slideViewPr>
    <p:cSldViewPr snapToGrid="0">
      <p:cViewPr varScale="1">
        <p:scale>
          <a:sx n="132" d="100"/>
          <a:sy n="132" d="100"/>
        </p:scale>
        <p:origin x="176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6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33172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565F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969264"/>
            <a:ext cx="822960" cy="41148"/>
          </a:xfrm>
          <a:prstGeom prst="rect">
            <a:avLst/>
          </a:prstGeom>
          <a:solidFill>
            <a:srgbClr val="2E8BFF"/>
          </a:solidFill>
          <a:ln/>
        </p:spPr>
      </p:sp>
      <p:sp>
        <p:nvSpPr>
          <p:cNvPr id="4" name="Text 2"/>
          <p:cNvSpPr>
            <a:spLocks noGrp="1"/>
          </p:cNvSpPr>
          <p:nvPr>
            <p:ph type="title" idx="102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6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marL="0" indent="0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OADMAP">
    <p:bg>
      <p:bgPr>
        <a:solidFill>
          <a:srgbClr val="0615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685800"/>
            <a:ext cx="768096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863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rra sup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3" name="Image 0" descr="Logotipo de ST&amp;T - Software, datos e inteligencia artifici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586" y="685800"/>
            <a:ext cx="2861388" cy="1051560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233172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Plataforma Necto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640080" y="3246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FB8D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Conectar negocios con sus clientes por WhatsApp usando IA contextual</a:t>
            </a:r>
            <a:endParaRPr lang="en-US" sz="1500" dirty="0"/>
          </a:p>
        </p:txBody>
      </p:sp>
      <p:sp>
        <p:nvSpPr>
          <p:cNvPr id="6" name="Line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886200"/>
            <a:ext cx="1188720" cy="45720"/>
          </a:xfrm>
          <a:prstGeom prst="rect">
            <a:avLst/>
          </a:prstGeom>
          <a:solidFill>
            <a:srgbClr val="2E8BFF"/>
          </a:solidFill>
          <a:ln w="12700">
            <a:solidFill>
              <a:srgbClr val="2E8B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4"/>
          <p:cNvSpPr/>
          <p:nvPr/>
        </p:nvSpPr>
        <p:spPr>
          <a:xfrm>
            <a:off x="640080" y="4069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6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Definición inicial · Versión 1.0 · Agosto 6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Contenido</a:t>
            </a:r>
            <a:endParaRPr lang="en-US" sz="2600" dirty="0"/>
          </a:p>
        </p:txBody>
      </p:sp>
      <p:sp>
        <p:nvSpPr>
          <p:cNvPr id="3" name="Barra inf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02920" y="4901184"/>
            <a:ext cx="5486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ST&amp;T · Plataforma Necto · v1.0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4901184"/>
            <a:ext cx="777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2542032" cy="1472184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71600"/>
            <a:ext cx="50292" cy="1472184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04088" y="1499616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Identidad estratégica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04088" y="2121408"/>
            <a:ext cx="21579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Propósito, público objetivo, propuesta de valor y diferenciadores.</a:t>
            </a:r>
            <a:endParaRPr lang="en-US" sz="1050" dirty="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371600"/>
            <a:ext cx="2542032" cy="1472184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371600"/>
            <a:ext cx="50292" cy="1472184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502152" y="1499616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Características de la plataforma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02152" y="2121408"/>
            <a:ext cx="21579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Multilenguaje, onboarding, seguridad, integraciones y arquitectura cloud.</a:t>
            </a:r>
            <a:endParaRPr lang="en-US" sz="1050" dirty="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371600"/>
            <a:ext cx="2542032" cy="1472184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371600"/>
            <a:ext cx="50292" cy="1472184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300216" y="1499616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Estructura de módulos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00216" y="2121408"/>
            <a:ext cx="21579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Módulos principales, transversales y opcionales activables por cliente.</a:t>
            </a:r>
            <a:endParaRPr lang="en-US" sz="1050" dirty="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99816"/>
            <a:ext cx="2542032" cy="1472184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99816"/>
            <a:ext cx="50292" cy="1472184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704088" y="322783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Módulos funcionales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3849624"/>
            <a:ext cx="21579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Referidos, pedidos, agendamiento, reservas, inventarios y turnos.</a:t>
            </a:r>
            <a:endParaRPr lang="en-US" sz="1050" dirty="0"/>
          </a:p>
        </p:txBody>
      </p:sp>
      <p:sp>
        <p:nvSpPr>
          <p:cNvPr id="22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3099816"/>
            <a:ext cx="2542032" cy="1472184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3099816"/>
            <a:ext cx="50292" cy="1472184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502152" y="322783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Funcionalidades transversales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502152" y="3849624"/>
            <a:ext cx="21579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Inteligencia artificial, dashboard, roles y permisos.</a:t>
            </a:r>
            <a:endParaRPr lang="en-US" sz="1050" dirty="0"/>
          </a:p>
        </p:txBody>
      </p:sp>
      <p:sp>
        <p:nvSpPr>
          <p:cNvPr id="2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3099816"/>
            <a:ext cx="2542032" cy="1472184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3099816"/>
            <a:ext cx="50292" cy="1472184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300216" y="3227832"/>
            <a:ext cx="2157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Roadmap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300216" y="3849624"/>
            <a:ext cx="215798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Módulos futuros, nuevas integraciones e IA avanzada.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Identidad estratégica de Necto</a:t>
            </a:r>
            <a:endParaRPr lang="en-US" sz="3400" dirty="0"/>
          </a:p>
        </p:txBody>
      </p:sp>
      <p:sp>
        <p:nvSpPr>
          <p:cNvPr id="3" name="Line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017520"/>
            <a:ext cx="1097280" cy="54864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2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Propósito, mercado, problemas que resuelve y valor diferencial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Propósito y propuesta de valor</a:t>
            </a:r>
            <a:endParaRPr lang="en-US" sz="2600" dirty="0"/>
          </a:p>
        </p:txBody>
      </p:sp>
      <p:sp>
        <p:nvSpPr>
          <p:cNvPr id="3" name="Barra inf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02920" y="4901184"/>
            <a:ext cx="5486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ST&amp;T · Plataforma Necto · v1.0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4901184"/>
            <a:ext cx="777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Panel propósi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25880"/>
            <a:ext cx="3977640" cy="1600200"/>
          </a:xfrm>
          <a:prstGeom prst="rect">
            <a:avLst/>
          </a:prstGeom>
          <a:solidFill>
            <a:srgbClr val="06153C"/>
          </a:solidFill>
          <a:ln w="12700">
            <a:solidFill>
              <a:srgbClr val="0615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77240" y="1536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Propósito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901952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Conectar negocios con sus clientes mediante WhatsApp usando IA contextual.</a:t>
            </a:r>
            <a:endParaRPr lang="en-US" sz="1350" dirty="0"/>
          </a:p>
        </p:txBody>
      </p:sp>
      <p:sp>
        <p:nvSpPr>
          <p:cNvPr id="9" name="Panel val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325880"/>
            <a:ext cx="3977640" cy="1600200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937760" y="15361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Propuesta de valor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901952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plataforma modular, inteligente y adaptable que opera 100% por WhatsApp y canales web responsive, y a mediano plazo con App.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02920" y="3108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Diferenciadores</a:t>
            </a:r>
            <a:endParaRPr lang="en-US" sz="1300" dirty="0"/>
          </a:p>
        </p:txBody>
      </p:sp>
      <p:sp>
        <p:nvSpPr>
          <p:cNvPr id="13" name="Tarjeta diferenci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474720"/>
            <a:ext cx="14813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612648" y="3547872"/>
            <a:ext cx="1261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contextual por cliente</a:t>
            </a:r>
            <a:endParaRPr lang="en-US" sz="1050" dirty="0"/>
          </a:p>
        </p:txBody>
      </p:sp>
      <p:sp>
        <p:nvSpPr>
          <p:cNvPr id="15" name="Tarjeta diferenci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67128" y="3474720"/>
            <a:ext cx="14813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2276856" y="3547872"/>
            <a:ext cx="1261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Módulos integrados</a:t>
            </a:r>
            <a:endParaRPr lang="en-US" sz="1050" dirty="0"/>
          </a:p>
        </p:txBody>
      </p:sp>
      <p:sp>
        <p:nvSpPr>
          <p:cNvPr id="17" name="Tarjeta diferenci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31336" y="3474720"/>
            <a:ext cx="14813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3941064" y="3547872"/>
            <a:ext cx="1261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modular</a:t>
            </a:r>
            <a:endParaRPr lang="en-US" sz="1050" dirty="0"/>
          </a:p>
        </p:txBody>
      </p:sp>
      <p:sp>
        <p:nvSpPr>
          <p:cNvPr id="19" name="Tarjeta diferenci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95544" y="3474720"/>
            <a:ext cx="14813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605272" y="3547872"/>
            <a:ext cx="1261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 avanzados</a:t>
            </a:r>
            <a:endParaRPr lang="en-US" sz="1050" dirty="0"/>
          </a:p>
        </p:txBody>
      </p:sp>
      <p:sp>
        <p:nvSpPr>
          <p:cNvPr id="21" name="Tarjeta diferenciad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59752" y="3474720"/>
            <a:ext cx="148132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269480" y="3547872"/>
            <a:ext cx="12618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Integración con WhatsApp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Público objetivo y problemas que resuelve</a:t>
            </a:r>
            <a:endParaRPr lang="en-US" sz="2600" dirty="0"/>
          </a:p>
        </p:txBody>
      </p:sp>
      <p:sp>
        <p:nvSpPr>
          <p:cNvPr id="3" name="Barra inf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02920" y="4901184"/>
            <a:ext cx="5486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ST&amp;T · Plataforma Necto · v1.0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4901184"/>
            <a:ext cx="777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Público objetivo</a:t>
            </a:r>
            <a:endParaRPr lang="en-US" sz="1300" dirty="0"/>
          </a:p>
        </p:txBody>
      </p:sp>
      <p:sp>
        <p:nvSpPr>
          <p:cNvPr id="7" name="Etiqu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627632"/>
            <a:ext cx="1874520" cy="457200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12648" y="16276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Restaurantes</a:t>
            </a:r>
            <a:endParaRPr lang="en-US" sz="1050" dirty="0"/>
          </a:p>
        </p:txBody>
      </p:sp>
      <p:sp>
        <p:nvSpPr>
          <p:cNvPr id="9" name="Etiqu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1627632"/>
            <a:ext cx="1874520" cy="457200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624328" y="16276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Centros deportivos</a:t>
            </a:r>
            <a:endParaRPr lang="en-US" sz="1050" dirty="0"/>
          </a:p>
        </p:txBody>
      </p:sp>
      <p:sp>
        <p:nvSpPr>
          <p:cNvPr id="11" name="Etiqu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194560"/>
            <a:ext cx="1874520" cy="457200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12648" y="2194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Clínicas</a:t>
            </a:r>
            <a:endParaRPr lang="en-US" sz="1050" dirty="0"/>
          </a:p>
        </p:txBody>
      </p:sp>
      <p:sp>
        <p:nvSpPr>
          <p:cNvPr id="13" name="Etiqu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2194560"/>
            <a:ext cx="1874520" cy="457200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2624328" y="2194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Inmobiliarias</a:t>
            </a:r>
            <a:endParaRPr lang="en-US" sz="1050" dirty="0"/>
          </a:p>
        </p:txBody>
      </p:sp>
      <p:sp>
        <p:nvSpPr>
          <p:cNvPr id="15" name="Etiqu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761488"/>
            <a:ext cx="1874520" cy="457200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12648" y="27614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Coworkings</a:t>
            </a:r>
            <a:endParaRPr lang="en-US" sz="1050" dirty="0"/>
          </a:p>
        </p:txBody>
      </p:sp>
      <p:sp>
        <p:nvSpPr>
          <p:cNvPr id="17" name="Etiqu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2761488"/>
            <a:ext cx="1874520" cy="457200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2624328" y="27614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Retail</a:t>
            </a:r>
            <a:endParaRPr lang="en-US" sz="1050" dirty="0"/>
          </a:p>
        </p:txBody>
      </p:sp>
      <p:sp>
        <p:nvSpPr>
          <p:cNvPr id="19" name="Etiqu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28416"/>
            <a:ext cx="1874520" cy="457200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612648" y="332841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Hoteles</a:t>
            </a:r>
            <a:endParaRPr lang="en-US" sz="1050" dirty="0"/>
          </a:p>
        </p:txBody>
      </p:sp>
      <p:sp>
        <p:nvSpPr>
          <p:cNvPr id="21" name="Etiqu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3328416"/>
            <a:ext cx="1874520" cy="457200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2624328" y="332841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Servicios técnicos</a:t>
            </a:r>
            <a:endParaRPr lang="en-US" sz="1050" dirty="0"/>
          </a:p>
        </p:txBody>
      </p:sp>
      <p:sp>
        <p:nvSpPr>
          <p:cNvPr id="23" name="Etiqu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95344"/>
            <a:ext cx="1874520" cy="457200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612648" y="38953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Negocios de barrio</a:t>
            </a:r>
            <a:endParaRPr lang="en-US" sz="1050" dirty="0"/>
          </a:p>
        </p:txBody>
      </p:sp>
      <p:sp>
        <p:nvSpPr>
          <p:cNvPr id="60" name="Etiqu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4600" y="3895344"/>
            <a:ext cx="1874520" cy="457200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1" name="Text 61"/>
          <p:cNvSpPr/>
          <p:nvPr/>
        </p:nvSpPr>
        <p:spPr>
          <a:xfrm>
            <a:off x="2624328" y="389534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Entre otros</a:t>
            </a:r>
            <a:endParaRPr lang="en-US" sz="1050"/>
          </a:p>
        </p:txBody>
      </p:sp>
      <p:sp>
        <p:nvSpPr>
          <p:cNvPr id="25" name="Panel problema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1234440"/>
            <a:ext cx="3886200" cy="3429000"/>
          </a:xfrm>
          <a:prstGeom prst="rect">
            <a:avLst/>
          </a:prstGeom>
          <a:solidFill>
            <a:srgbClr val="06153C"/>
          </a:solidFill>
          <a:ln w="12700">
            <a:solidFill>
              <a:srgbClr val="0615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5029200" y="14630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Problemas que resuelve</a:t>
            </a:r>
            <a:endParaRPr lang="en-US" sz="1300" dirty="0"/>
          </a:p>
        </p:txBody>
      </p:sp>
      <p:sp>
        <p:nvSpPr>
          <p:cNvPr id="27" name="Viñ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74920" y="2039112"/>
            <a:ext cx="118872" cy="118872"/>
          </a:xfrm>
          <a:prstGeom prst="ellipse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5321808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Atención lenta</a:t>
            </a:r>
            <a:endParaRPr lang="en-US" sz="1250" dirty="0"/>
          </a:p>
        </p:txBody>
      </p:sp>
      <p:sp>
        <p:nvSpPr>
          <p:cNvPr id="29" name="Viñ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74920" y="2587752"/>
            <a:ext cx="118872" cy="118872"/>
          </a:xfrm>
          <a:prstGeom prst="ellipse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5321808" y="24688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Falta de automatización</a:t>
            </a:r>
            <a:endParaRPr lang="en-US" sz="1250" dirty="0"/>
          </a:p>
        </p:txBody>
      </p:sp>
      <p:sp>
        <p:nvSpPr>
          <p:cNvPr id="31" name="Viñ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74920" y="3136392"/>
            <a:ext cx="118872" cy="118872"/>
          </a:xfrm>
          <a:prstGeom prst="ellipse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5321808" y="3017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Falta de trazabilidad</a:t>
            </a:r>
            <a:endParaRPr lang="en-US" sz="1250" dirty="0"/>
          </a:p>
        </p:txBody>
      </p:sp>
      <p:sp>
        <p:nvSpPr>
          <p:cNvPr id="33" name="Viñ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74920" y="3685032"/>
            <a:ext cx="118872" cy="118872"/>
          </a:xfrm>
          <a:prstGeom prst="ellipse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5321808" y="3566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Falta de métricas</a:t>
            </a:r>
            <a:endParaRPr lang="en-US" sz="1250" dirty="0"/>
          </a:p>
        </p:txBody>
      </p:sp>
      <p:sp>
        <p:nvSpPr>
          <p:cNvPr id="35" name="Viñ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74920" y="4233672"/>
            <a:ext cx="118872" cy="118872"/>
          </a:xfrm>
          <a:prstGeom prst="ellipse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5321808" y="41148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Falta de orden operativo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Características generales de la plataforma</a:t>
            </a:r>
            <a:endParaRPr lang="en-US" sz="3400" dirty="0"/>
          </a:p>
        </p:txBody>
      </p:sp>
      <p:sp>
        <p:nvSpPr>
          <p:cNvPr id="3" name="Line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017520"/>
            <a:ext cx="1097280" cy="54864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2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Multilenguaje, onboarding, seguridad, integraciones y cloud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Capacidades base de la plataforma</a:t>
            </a:r>
            <a:endParaRPr lang="en-US" sz="2600" dirty="0"/>
          </a:p>
        </p:txBody>
      </p:sp>
      <p:sp>
        <p:nvSpPr>
          <p:cNvPr id="3" name="Barra inf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02920" y="4901184"/>
            <a:ext cx="5486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ST&amp;T · Plataforma Necto · v1.0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4901184"/>
            <a:ext cx="777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43584"/>
            <a:ext cx="2542032" cy="1700784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243584"/>
            <a:ext cx="50292" cy="1700784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04088" y="1362456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Plataforma multilenguaje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04088" y="1901952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Español e inglés, con posibilidad de agregar cualquier idioma. Aplica a interfaz, mensajes, campañas, catálogos, paneles y documentación.</a:t>
            </a:r>
            <a:endParaRPr lang="en-US" sz="1000"/>
          </a:p>
        </p:txBody>
      </p:sp>
      <p:sp>
        <p:nvSpPr>
          <p:cNvPr id="10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243584"/>
            <a:ext cx="2542032" cy="1700784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1243584"/>
            <a:ext cx="50292" cy="1700784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502152" y="1362456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02152" y="1901952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Auth0, HTTPS, encriptación en reposo, auditoría, límites de intentos y detección de actividad sospechosa.</a:t>
            </a:r>
            <a:endParaRPr lang="en-US" sz="1000"/>
          </a:p>
        </p:txBody>
      </p:sp>
      <p:sp>
        <p:nvSpPr>
          <p:cNvPr id="14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243584"/>
            <a:ext cx="2542032" cy="1700784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1243584"/>
            <a:ext cx="50292" cy="1700784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300216" y="1362456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cloud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00216" y="1901952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Microservicios, contenedores, autoescalado, alta disponibilidad y observabilidad.</a:t>
            </a:r>
            <a:endParaRPr lang="en-US" sz="1000"/>
          </a:p>
        </p:txBody>
      </p:sp>
      <p:sp>
        <p:nvSpPr>
          <p:cNvPr id="18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72384"/>
            <a:ext cx="2542032" cy="1700784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072384"/>
            <a:ext cx="50292" cy="1700784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704088" y="3191256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Integraciones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4088" y="3730752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 Business API, Elastic Email, Auth0 y AWS (EC2, ECS, Lambda, S3, RDS, DynamoDB, CloudFront, CloudWatch, IAM, API Gateway).</a:t>
            </a:r>
            <a:endParaRPr lang="en-US" sz="1000"/>
          </a:p>
        </p:txBody>
      </p:sp>
      <p:sp>
        <p:nvSpPr>
          <p:cNvPr id="22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3072384"/>
            <a:ext cx="2542032" cy="1700784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00984" y="3072384"/>
            <a:ext cx="50292" cy="1700784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3502152" y="3191256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Registro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502152" y="3730752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Registro por celular, WhatsApp y correo, validación OTP y vinculación con Meta.</a:t>
            </a:r>
            <a:endParaRPr lang="en-US" sz="1000"/>
          </a:p>
        </p:txBody>
      </p:sp>
      <p:sp>
        <p:nvSpPr>
          <p:cNvPr id="26" name="Tarje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3072384"/>
            <a:ext cx="2542032" cy="1700784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9048" y="3072384"/>
            <a:ext cx="50292" cy="1700784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6300216" y="3191256"/>
            <a:ext cx="21579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Activación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300216" y="3730752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Activación de módulos, carga de catálogos, reglas, horarios y campañas, prueba de comunicación y activación final.</a:t>
            </a:r>
            <a:endParaRPr lang="en-US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Onboarding del cliente</a:t>
            </a:r>
            <a:endParaRPr lang="en-US" sz="2600" dirty="0"/>
          </a:p>
        </p:txBody>
      </p:sp>
      <p:sp>
        <p:nvSpPr>
          <p:cNvPr id="3" name="Barra inf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02920" y="4901184"/>
            <a:ext cx="5486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ST&amp;T · Plataforma Necto · v1.0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4901184"/>
            <a:ext cx="777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25880"/>
            <a:ext cx="1234440" cy="1371600"/>
          </a:xfrm>
          <a:prstGeom prst="rect">
            <a:avLst/>
          </a:prstGeom>
          <a:solidFill>
            <a:srgbClr val="06153C"/>
          </a:solidFill>
          <a:ln w="12700">
            <a:solidFill>
              <a:srgbClr val="0615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Registro y validación OTP</a:t>
            </a:r>
            <a:endParaRPr lang="en-US" sz="1000" dirty="0"/>
          </a:p>
        </p:txBody>
      </p:sp>
      <p:sp>
        <p:nvSpPr>
          <p:cNvPr id="9" name="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83664" y="1325880"/>
            <a:ext cx="1234440" cy="1371600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883664" y="1463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75104" y="1874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Vinculación con Meta</a:t>
            </a:r>
            <a:endParaRPr lang="en-US" sz="1000" dirty="0"/>
          </a:p>
        </p:txBody>
      </p:sp>
      <p:sp>
        <p:nvSpPr>
          <p:cNvPr id="12" name="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64408" y="1325880"/>
            <a:ext cx="1234440" cy="1371600"/>
          </a:xfrm>
          <a:prstGeom prst="rect">
            <a:avLst/>
          </a:prstGeom>
          <a:solidFill>
            <a:srgbClr val="06153C"/>
          </a:solidFill>
          <a:ln w="12700">
            <a:solidFill>
              <a:srgbClr val="0615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3264408" y="1463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55848" y="1874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Activación de módulos</a:t>
            </a:r>
            <a:endParaRPr lang="en-US" sz="1000" dirty="0"/>
          </a:p>
        </p:txBody>
      </p:sp>
      <p:sp>
        <p:nvSpPr>
          <p:cNvPr id="15" name="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45152" y="1325880"/>
            <a:ext cx="1234440" cy="1371600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4645152" y="1463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36592" y="1874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Carga de catálogos y reglas</a:t>
            </a:r>
            <a:endParaRPr lang="en-US" sz="1000" dirty="0"/>
          </a:p>
        </p:txBody>
      </p:sp>
      <p:sp>
        <p:nvSpPr>
          <p:cNvPr id="18" name="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25896" y="1325880"/>
            <a:ext cx="1234440" cy="1371600"/>
          </a:xfrm>
          <a:prstGeom prst="rect">
            <a:avLst/>
          </a:prstGeom>
          <a:solidFill>
            <a:srgbClr val="06153C"/>
          </a:solidFill>
          <a:ln w="12700">
            <a:solidFill>
              <a:srgbClr val="0615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6025896" y="1463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117336" y="1874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Prueba de comunicación</a:t>
            </a:r>
            <a:endParaRPr lang="en-US" sz="1000" dirty="0"/>
          </a:p>
        </p:txBody>
      </p:sp>
      <p:sp>
        <p:nvSpPr>
          <p:cNvPr id="21" name="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06640" y="1325880"/>
            <a:ext cx="1234440" cy="1371600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406640" y="14630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98080" y="187452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Activación final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2971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Resultado del onboarding</a:t>
            </a:r>
            <a:endParaRPr lang="en-US" sz="1300" dirty="0"/>
          </a:p>
        </p:txBody>
      </p:sp>
      <p:sp>
        <p:nvSpPr>
          <p:cNvPr id="25" name="Result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337560"/>
            <a:ext cx="261518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612648" y="333756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Número de WhatsApp funcionando</a:t>
            </a:r>
            <a:endParaRPr lang="en-US" sz="1050" dirty="0"/>
          </a:p>
        </p:txBody>
      </p:sp>
      <p:sp>
        <p:nvSpPr>
          <p:cNvPr id="27" name="Result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64408" y="3337560"/>
            <a:ext cx="261518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3374136" y="333756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Módulos activos</a:t>
            </a:r>
            <a:endParaRPr lang="en-US" sz="1050" dirty="0"/>
          </a:p>
        </p:txBody>
      </p:sp>
      <p:sp>
        <p:nvSpPr>
          <p:cNvPr id="29" name="Result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25896" y="3337560"/>
            <a:ext cx="261518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6135624" y="3337560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Catálogos cargados</a:t>
            </a:r>
            <a:endParaRPr lang="en-US" sz="1050" dirty="0"/>
          </a:p>
        </p:txBody>
      </p:sp>
      <p:sp>
        <p:nvSpPr>
          <p:cNvPr id="31" name="Result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904488"/>
            <a:ext cx="261518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612648" y="390448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Campañas listas</a:t>
            </a:r>
            <a:endParaRPr lang="en-US" sz="1050" dirty="0"/>
          </a:p>
        </p:txBody>
      </p:sp>
      <p:sp>
        <p:nvSpPr>
          <p:cNvPr id="33" name="Result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64408" y="3904488"/>
            <a:ext cx="261518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3374136" y="390448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Usuarios configurados</a:t>
            </a:r>
            <a:endParaRPr lang="en-US" sz="1050" dirty="0"/>
          </a:p>
        </p:txBody>
      </p:sp>
      <p:sp>
        <p:nvSpPr>
          <p:cNvPr id="35" name="Result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25896" y="3904488"/>
            <a:ext cx="261518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B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6135624" y="3904488"/>
            <a:ext cx="2395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Mensajes automáticos funcionando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Estructura general de módulos</a:t>
            </a:r>
            <a:endParaRPr lang="en-US" sz="2600" dirty="0"/>
          </a:p>
        </p:txBody>
      </p:sp>
      <p:sp>
        <p:nvSpPr>
          <p:cNvPr id="3" name="Barra inf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02920" y="4901184"/>
            <a:ext cx="5486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ST&amp;T · Plataforma Necto · v1.0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4901184"/>
            <a:ext cx="777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Column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25880"/>
            <a:ext cx="2615184" cy="2651760"/>
          </a:xfrm>
          <a:prstGeom prst="rect">
            <a:avLst/>
          </a:prstGeom>
          <a:solidFill>
            <a:srgbClr val="06153C"/>
          </a:solidFill>
          <a:ln w="12700">
            <a:solidFill>
              <a:srgbClr val="0615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Módulos principales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224942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Referidos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Pedidos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Agendamiento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Reservas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Inventarios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Turnos</a:t>
            </a:r>
            <a:endParaRPr lang="en-US" sz="1100" dirty="0"/>
          </a:p>
        </p:txBody>
      </p:sp>
      <p:sp>
        <p:nvSpPr>
          <p:cNvPr id="9" name="Column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64408" y="1325880"/>
            <a:ext cx="2615184" cy="2651760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3447288" y="150876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6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Funcionalidades transversales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47288" y="2011680"/>
            <a:ext cx="224942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Inteligencia artificial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 y permisos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Pagos con pasarela</a:t>
            </a:r>
            <a:endParaRPr lang="en-US" sz="1100" dirty="0"/>
          </a:p>
        </p:txBody>
      </p:sp>
      <p:sp>
        <p:nvSpPr>
          <p:cNvPr id="12" name="Column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25896" y="1325880"/>
            <a:ext cx="2615184" cy="2651760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208776" y="150876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56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Módulos opcionales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08776" y="2011680"/>
            <a:ext cx="224942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Fidelización (futuro)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Compras (futuro)</a:t>
            </a:r>
            <a:endParaRPr lang="en-US" sz="1100" dirty="0"/>
          </a:p>
        </p:txBody>
      </p:sp>
      <p:sp>
        <p:nvSpPr>
          <p:cNvPr id="15" name="Not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114800"/>
            <a:ext cx="81381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85800" y="41148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Activación por cliente: cada cliente activa solo los módulos que necesita y contrata.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Módulos funcionales</a:t>
            </a:r>
            <a:endParaRPr lang="en-US" sz="3400" dirty="0"/>
          </a:p>
        </p:txBody>
      </p:sp>
      <p:sp>
        <p:nvSpPr>
          <p:cNvPr id="3" name="Line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017520"/>
            <a:ext cx="1097280" cy="54864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FC2E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Seis módulos operativos integrados y activables de forma independiente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Referidos, pedidos y agendamiento</a:t>
            </a:r>
            <a:endParaRPr lang="en-US" sz="2600" dirty="0"/>
          </a:p>
        </p:txBody>
      </p:sp>
      <p:sp>
        <p:nvSpPr>
          <p:cNvPr id="3" name="Barra inf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02920" y="4901184"/>
            <a:ext cx="5486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ST&amp;T · Plataforma Necto · v1.0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4901184"/>
            <a:ext cx="777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arjeta mód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25880"/>
            <a:ext cx="2615184" cy="3337560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Encabez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25880"/>
            <a:ext cx="2615184" cy="457200"/>
          </a:xfrm>
          <a:prstGeom prst="rect">
            <a:avLst/>
          </a:prstGeom>
          <a:solidFill>
            <a:srgbClr val="06153C"/>
          </a:solidFill>
          <a:ln w="12700">
            <a:solidFill>
              <a:srgbClr val="0615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Referidos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224942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Campañas configurables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Referentes internos y externos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Códigos y enlaces únicos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Cadenas de referidos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Puntos y premios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Panel de rendimiento y métricas</a:t>
            </a:r>
            <a:endParaRPr lang="en-US" sz="1050" dirty="0"/>
          </a:p>
        </p:txBody>
      </p:sp>
      <p:sp>
        <p:nvSpPr>
          <p:cNvPr id="10" name="Tarjeta mód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64408" y="1325880"/>
            <a:ext cx="2615184" cy="3337560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Encabez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64408" y="1325880"/>
            <a:ext cx="2615184" cy="457200"/>
          </a:xfrm>
          <a:prstGeom prst="rect">
            <a:avLst/>
          </a:prstGeom>
          <a:solidFill>
            <a:srgbClr val="06153C"/>
          </a:solidFill>
          <a:ln w="12700">
            <a:solidFill>
              <a:srgbClr val="0615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447288" y="13258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Pedidos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47288" y="1920240"/>
            <a:ext cx="224942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Catálogo inteligente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para interpretar pedidos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Pedidos recurrentes y programados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Confirmación automática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Integración con Turnos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Panel de preparación y tiempos</a:t>
            </a:r>
            <a:endParaRPr lang="en-US" sz="1050" dirty="0"/>
          </a:p>
        </p:txBody>
      </p:sp>
      <p:sp>
        <p:nvSpPr>
          <p:cNvPr id="14" name="Tarjeta mód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25896" y="1325880"/>
            <a:ext cx="2615184" cy="3337560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Encabez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25896" y="1325880"/>
            <a:ext cx="2615184" cy="457200"/>
          </a:xfrm>
          <a:prstGeom prst="rect">
            <a:avLst/>
          </a:prstGeom>
          <a:solidFill>
            <a:srgbClr val="06153C"/>
          </a:solidFill>
          <a:ln w="12700">
            <a:solidFill>
              <a:srgbClr val="0615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208776" y="13258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Agendamiento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08776" y="1920240"/>
            <a:ext cx="224942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Múltiples agendas por profesional, servicio, sucursal y recurso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cita y duración variable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Citas virtuales y presenciales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Recordatorios automáticos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Confirmación, reprogramación y cancelación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Reservas, inventarios y turnos</a:t>
            </a:r>
            <a:endParaRPr lang="en-US" sz="2600" dirty="0"/>
          </a:p>
        </p:txBody>
      </p:sp>
      <p:sp>
        <p:nvSpPr>
          <p:cNvPr id="3" name="Barra inf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02920" y="4901184"/>
            <a:ext cx="5486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ST&amp;T · Plataforma Necto · v1.0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4901184"/>
            <a:ext cx="777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Tarjeta mód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25880"/>
            <a:ext cx="2615184" cy="3337560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Encabez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25880"/>
            <a:ext cx="2615184" cy="457200"/>
          </a:xfrm>
          <a:prstGeom prst="rect">
            <a:avLst/>
          </a:prstGeom>
          <a:solidFill>
            <a:srgbClr val="06153C"/>
          </a:solidFill>
          <a:ln w="12700">
            <a:solidFill>
              <a:srgbClr val="0615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224942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Reglas avanzadas por día y horario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Disponibilidad por espacio, sucursal y recurso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Capacidad y bloques de tiempo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Penalizaciones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Reservas recurrentes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Integración con Turnos</a:t>
            </a:r>
            <a:endParaRPr lang="en-US" sz="1050" dirty="0"/>
          </a:p>
        </p:txBody>
      </p:sp>
      <p:sp>
        <p:nvSpPr>
          <p:cNvPr id="10" name="Tarjeta mód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64408" y="1325880"/>
            <a:ext cx="2615184" cy="3337560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Encabez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64408" y="1325880"/>
            <a:ext cx="2615184" cy="457200"/>
          </a:xfrm>
          <a:prstGeom prst="rect">
            <a:avLst/>
          </a:prstGeom>
          <a:solidFill>
            <a:srgbClr val="06153C"/>
          </a:solidFill>
          <a:ln w="12700">
            <a:solidFill>
              <a:srgbClr val="0615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3447288" y="13258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Inventarios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47288" y="1920240"/>
            <a:ext cx="224942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Captura por texto, audio, fotos o video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Plantillas y directorio por cliente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Estados, condiciones y evidencia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Historial por elemento y ubicación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 operador y analista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Alertas y exportación</a:t>
            </a:r>
            <a:endParaRPr lang="en-US" sz="1050" dirty="0"/>
          </a:p>
        </p:txBody>
      </p:sp>
      <p:sp>
        <p:nvSpPr>
          <p:cNvPr id="14" name="Tarjeta módul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25896" y="1325880"/>
            <a:ext cx="2615184" cy="3337560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Encabeza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25896" y="1325880"/>
            <a:ext cx="2615184" cy="457200"/>
          </a:xfrm>
          <a:prstGeom prst="rect">
            <a:avLst/>
          </a:prstGeom>
          <a:solidFill>
            <a:srgbClr val="06153C"/>
          </a:solidFill>
          <a:ln w="12700">
            <a:solidFill>
              <a:srgbClr val="0615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6208776" y="13258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Turnos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08776" y="1920240"/>
            <a:ext cx="224942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Reemplaza el digiturno físico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Enrolamiento y número de turno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Tiempo estimado y notificación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Encuesta de satisfacción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Panel de turnos activos y alertas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Integración con Pedidos y Reservas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Inteligencia artificial y dashboard</a:t>
            </a:r>
            <a:endParaRPr lang="en-US" sz="2600" dirty="0"/>
          </a:p>
        </p:txBody>
      </p:sp>
      <p:sp>
        <p:nvSpPr>
          <p:cNvPr id="3" name="Barra inf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02920" y="4901184"/>
            <a:ext cx="5486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ST&amp;T · Plataforma Necto · v1.0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4901184"/>
            <a:ext cx="777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Panel I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325880"/>
            <a:ext cx="3977640" cy="3337560"/>
          </a:xfrm>
          <a:prstGeom prst="rect">
            <a:avLst/>
          </a:prstGeom>
          <a:solidFill>
            <a:srgbClr val="06153C"/>
          </a:solidFill>
          <a:ln w="12700">
            <a:solidFill>
              <a:srgbClr val="06153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Inteligencia artificial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3D3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 texto, audio e imágenes, y se adapta a cada cliente mediante catálogos, directorios, reglas, horarios, plantillas e historial.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352044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Separación de intenciones: un mismo mensaje puede corresponder a dos módulos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Enrutamiento automático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Sugerencias inteligentes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Métricas de IA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 y privacidad</a:t>
            </a:r>
            <a:endParaRPr lang="en-US" sz="1100" dirty="0"/>
          </a:p>
        </p:txBody>
      </p:sp>
      <p:sp>
        <p:nvSpPr>
          <p:cNvPr id="10" name="Panel dashbo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325880"/>
            <a:ext cx="3977640" cy="3337560"/>
          </a:xfrm>
          <a:prstGeom prst="rect">
            <a:avLst/>
          </a:prstGeom>
          <a:solidFill>
            <a:srgbClr val="F2F6FC"/>
          </a:solidFill>
          <a:ln w="12700">
            <a:solidFill>
              <a:srgbClr val="E1E9F5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principal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920240"/>
            <a:ext cx="35204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general del negocio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Widgets por módulo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Centro de alertas y notificaciones en tiempo real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Gráficos avanzados y selector de fechas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Personalización y modo multisucursal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Exportación y reportes automáticos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title" idx="102" hasCustomPrompt="1"/>
          </p:nvPr>
        </p:nvSpPr>
        <p:spPr>
          <a:xfrm>
            <a:off x="502920" y="34747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 y permisos</a:t>
            </a:r>
            <a:endParaRPr lang="en-US" sz="2600" dirty="0"/>
          </a:p>
        </p:txBody>
      </p:sp>
      <p:sp>
        <p:nvSpPr>
          <p:cNvPr id="3" name="Barra inferi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01184"/>
            <a:ext cx="9144000" cy="242316"/>
          </a:xfrm>
          <a:prstGeom prst="rect">
            <a:avLst/>
          </a:prstGeom>
          <a:solidFill>
            <a:srgbClr val="F2F6FC"/>
          </a:solidFill>
          <a:ln w="12700">
            <a:solidFill>
              <a:srgbClr val="F2F6FC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502920" y="4901184"/>
            <a:ext cx="548640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ST&amp;T · Plataforma Necto · v1.0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863840" y="4901184"/>
            <a:ext cx="777240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B8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 internos de Necto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Administrador General · Operador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1704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Roles del cliente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3440" y="14447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15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Administrador · Operador · Referente · Cliente Final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10512"/>
          <a:ext cx="8138160" cy="2971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Funcionalidad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5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Admin Necto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5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Oper. Necto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5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Admin Cliente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5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Oper. Cliente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5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Referente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5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Cliente Final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15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6153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Acceso global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6153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Configuración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6153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Dashboards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6153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Métricas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6153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Reportes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6153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Pedidos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6153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Agendamiento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6153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Reservas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6153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Turnos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6153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Inventarios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6153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Referidos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06153C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Encuestas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5A6B85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No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1565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Sí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685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general</a:t>
            </a:r>
            <a:endParaRPr lang="en-US" sz="3000" dirty="0"/>
          </a:p>
        </p:txBody>
      </p:sp>
      <p:sp>
        <p:nvSpPr>
          <p:cNvPr id="3" name="Line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1371600"/>
            <a:ext cx="1097280" cy="45720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F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737360"/>
            <a:ext cx="1755648" cy="1828800"/>
          </a:xfrm>
          <a:prstGeom prst="rect">
            <a:avLst/>
          </a:prstGeom>
          <a:solidFill>
            <a:srgbClr val="13264F"/>
          </a:solidFill>
          <a:ln w="12700">
            <a:solidFill>
              <a:srgbClr val="2440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737360"/>
            <a:ext cx="1755648" cy="45720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96112" y="190195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Módulos actuales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96112" y="2359152"/>
            <a:ext cx="1426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3D3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Referidos, pedidos, agendamiento, reservas, inventarios y turnos en operación.</a:t>
            </a:r>
            <a:endParaRPr lang="en-US" sz="1050" dirty="0"/>
          </a:p>
        </p:txBody>
      </p:sp>
      <p:sp>
        <p:nvSpPr>
          <p:cNvPr id="8" name="F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06624" y="1737360"/>
            <a:ext cx="1755648" cy="1828800"/>
          </a:xfrm>
          <a:prstGeom prst="rect">
            <a:avLst/>
          </a:prstGeom>
          <a:solidFill>
            <a:srgbClr val="13264F"/>
          </a:solidFill>
          <a:ln w="12700">
            <a:solidFill>
              <a:srgbClr val="2440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06624" y="1737360"/>
            <a:ext cx="1755648" cy="45720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2871216" y="190195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Módulos futuros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71216" y="2359152"/>
            <a:ext cx="1426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3D3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Fidelización y compras como módulos opcionales.</a:t>
            </a:r>
            <a:endParaRPr lang="en-US" sz="1050" dirty="0"/>
          </a:p>
        </p:txBody>
      </p:sp>
      <p:sp>
        <p:nvSpPr>
          <p:cNvPr id="12" name="F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1737360"/>
            <a:ext cx="1755648" cy="1828800"/>
          </a:xfrm>
          <a:prstGeom prst="rect">
            <a:avLst/>
          </a:prstGeom>
          <a:solidFill>
            <a:srgbClr val="13264F"/>
          </a:solidFill>
          <a:ln w="12700">
            <a:solidFill>
              <a:srgbClr val="2440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1728" y="1737360"/>
            <a:ext cx="1755648" cy="45720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4846320" y="190195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Integraciones futuras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46320" y="2359152"/>
            <a:ext cx="1426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3D3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Ampliación de canales, pagos y sistemas de terceros.</a:t>
            </a:r>
            <a:endParaRPr lang="en-US" sz="1050" dirty="0"/>
          </a:p>
        </p:txBody>
      </p:sp>
      <p:sp>
        <p:nvSpPr>
          <p:cNvPr id="16" name="Fas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56832" y="1737360"/>
            <a:ext cx="1755648" cy="1828800"/>
          </a:xfrm>
          <a:prstGeom prst="rect">
            <a:avLst/>
          </a:prstGeom>
          <a:solidFill>
            <a:srgbClr val="13264F"/>
          </a:solidFill>
          <a:ln w="12700">
            <a:solidFill>
              <a:srgbClr val="24406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56832" y="1737360"/>
            <a:ext cx="1755648" cy="45720"/>
          </a:xfrm>
          <a:prstGeom prst="rect">
            <a:avLst/>
          </a:prstGeom>
          <a:solidFill>
            <a:srgbClr val="1565FF"/>
          </a:solidFill>
          <a:ln w="12700">
            <a:solidFill>
              <a:srgbClr val="1565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821424" y="1901952"/>
            <a:ext cx="1426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B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avanzada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21424" y="2359152"/>
            <a:ext cx="142646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3D3E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Mayor autonomía, sugerencias y métricas de inteligencia artificial.</a:t>
            </a:r>
            <a:endParaRPr lang="en-US" sz="1050" dirty="0"/>
          </a:p>
        </p:txBody>
      </p:sp>
      <p:pic>
        <p:nvPicPr>
          <p:cNvPr id="20" name="Image 0" descr="Logotipo de ST&amp;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179" y="3977640"/>
            <a:ext cx="1866122" cy="6858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3657600" y="39776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E96B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Software, datos e inteligencia artificial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1021</Words>
  <Application>Microsoft Macintosh PowerPoint</Application>
  <PresentationFormat>Presentación en pantalla (16:9)</PresentationFormat>
  <Paragraphs>300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Trebuchet MS</vt:lpstr>
      <vt:lpstr>Office Theme</vt:lpstr>
      <vt:lpstr>Plataforma Necto</vt:lpstr>
      <vt:lpstr>Contenido</vt:lpstr>
      <vt:lpstr>1. Identidad estratégica de Necto</vt:lpstr>
      <vt:lpstr>Propósito y propuesta de valor</vt:lpstr>
      <vt:lpstr>Público objetivo y problemas que resuelve</vt:lpstr>
      <vt:lpstr>2. Características generales de la plataforma</vt:lpstr>
      <vt:lpstr>Capacidades base de la plataforma</vt:lpstr>
      <vt:lpstr>Onboarding del cliente</vt:lpstr>
      <vt:lpstr>Estructura general de módulos</vt:lpstr>
      <vt:lpstr>4. Módulos funcionales</vt:lpstr>
      <vt:lpstr>Referidos, pedidos y agendamiento</vt:lpstr>
      <vt:lpstr>Reservas, inventarios y turnos</vt:lpstr>
      <vt:lpstr>Inteligencia artificial y dashboard</vt:lpstr>
      <vt:lpstr>Roles y permisos</vt:lpstr>
      <vt:lpstr>Roadmap general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Carlos Lozano Lozano</dc:creator>
  <cp:lastModifiedBy>Juan Carlos Lozano Lozano</cp:lastModifiedBy>
  <cp:revision>1</cp:revision>
  <dcterms:created xsi:type="dcterms:W3CDTF">2026-08-06T16:33:49Z</dcterms:created>
  <dcterms:modified xsi:type="dcterms:W3CDTF">2026-08-06T17:53:47Z</dcterms:modified>
</cp:coreProperties>
</file>